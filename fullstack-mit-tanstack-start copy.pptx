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41"/>
  </p:notesMasterIdLst>
  <p:handoutMasterIdLst>
    <p:handoutMasterId r:id="rId42"/>
  </p:handoutMasterIdLst>
  <p:sldIdLst>
    <p:sldId id="2238" r:id="rId2"/>
    <p:sldId id="1801" r:id="rId3"/>
    <p:sldId id="2188" r:id="rId4"/>
    <p:sldId id="2189" r:id="rId5"/>
    <p:sldId id="2168" r:id="rId6"/>
    <p:sldId id="2169" r:id="rId7"/>
    <p:sldId id="2170" r:id="rId8"/>
    <p:sldId id="2171" r:id="rId9"/>
    <p:sldId id="1986" r:id="rId10"/>
    <p:sldId id="2172" r:id="rId11"/>
    <p:sldId id="1766" r:id="rId12"/>
    <p:sldId id="1767" r:id="rId13"/>
    <p:sldId id="2005" r:id="rId14"/>
    <p:sldId id="2239" r:id="rId15"/>
    <p:sldId id="2174" r:id="rId16"/>
    <p:sldId id="2175" r:id="rId17"/>
    <p:sldId id="2176" r:id="rId18"/>
    <p:sldId id="2177" r:id="rId19"/>
    <p:sldId id="2178" r:id="rId20"/>
    <p:sldId id="2179" r:id="rId21"/>
    <p:sldId id="2204" r:id="rId22"/>
    <p:sldId id="2044" r:id="rId23"/>
    <p:sldId id="2229" r:id="rId24"/>
    <p:sldId id="2227" r:id="rId25"/>
    <p:sldId id="2226" r:id="rId26"/>
    <p:sldId id="2209" r:id="rId27"/>
    <p:sldId id="2230" r:id="rId28"/>
    <p:sldId id="2235" r:id="rId29"/>
    <p:sldId id="2236" r:id="rId30"/>
    <p:sldId id="2237" r:id="rId31"/>
    <p:sldId id="2040" r:id="rId32"/>
    <p:sldId id="2047" r:id="rId33"/>
    <p:sldId id="2042" r:id="rId34"/>
    <p:sldId id="2045" r:id="rId35"/>
    <p:sldId id="1819" r:id="rId36"/>
    <p:sldId id="2036" r:id="rId37"/>
    <p:sldId id="2037" r:id="rId38"/>
    <p:sldId id="2219" r:id="rId39"/>
    <p:sldId id="2223" r:id="rId4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B3FEC54-C99A-2341-AAD7-27E0ADE2F16E}">
          <p14:sldIdLst>
            <p14:sldId id="2238"/>
            <p14:sldId id="1801"/>
            <p14:sldId id="2188"/>
            <p14:sldId id="2189"/>
            <p14:sldId id="2168"/>
            <p14:sldId id="2169"/>
            <p14:sldId id="2170"/>
            <p14:sldId id="2171"/>
            <p14:sldId id="1986"/>
            <p14:sldId id="2172"/>
            <p14:sldId id="1766"/>
            <p14:sldId id="1767"/>
            <p14:sldId id="2005"/>
            <p14:sldId id="2239"/>
            <p14:sldId id="2174"/>
            <p14:sldId id="2175"/>
            <p14:sldId id="2176"/>
            <p14:sldId id="2177"/>
            <p14:sldId id="2178"/>
            <p14:sldId id="2179"/>
            <p14:sldId id="2204"/>
            <p14:sldId id="2044"/>
            <p14:sldId id="2229"/>
            <p14:sldId id="2227"/>
            <p14:sldId id="2226"/>
            <p14:sldId id="2209"/>
            <p14:sldId id="2230"/>
            <p14:sldId id="2235"/>
            <p14:sldId id="2236"/>
            <p14:sldId id="2237"/>
            <p14:sldId id="2040"/>
            <p14:sldId id="2047"/>
            <p14:sldId id="2042"/>
            <p14:sldId id="2045"/>
            <p14:sldId id="1819"/>
            <p14:sldId id="2036"/>
            <p14:sldId id="2037"/>
            <p14:sldId id="2219"/>
            <p14:sldId id="22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60B8"/>
    <a:srgbClr val="36544F"/>
    <a:srgbClr val="FB8E20"/>
    <a:srgbClr val="1778B8"/>
    <a:srgbClr val="3E729D"/>
    <a:srgbClr val="B58900"/>
    <a:srgbClr val="B04432"/>
    <a:srgbClr val="5AB88F"/>
    <a:srgbClr val="D4EBE9"/>
    <a:srgbClr val="0DC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73"/>
    <p:restoredTop sz="96911" autoAdjust="0"/>
  </p:normalViewPr>
  <p:slideViewPr>
    <p:cSldViewPr snapToGrid="0" snapToObjects="1">
      <p:cViewPr varScale="1">
        <p:scale>
          <a:sx n="168" d="100"/>
          <a:sy n="168" d="100"/>
        </p:scale>
        <p:origin x="208" y="2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70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1" d="100"/>
        <a:sy n="61" d="100"/>
      </p:scale>
      <p:origin x="0" y="0"/>
    </p:cViewPr>
  </p:sorterViewPr>
  <p:notesViewPr>
    <p:cSldViewPr snapToGrid="0" snapToObjects="1">
      <p:cViewPr varScale="1">
        <p:scale>
          <a:sx n="122" d="100"/>
          <a:sy n="122" d="100"/>
        </p:scale>
        <p:origin x="43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A0580E0-50EA-B04C-A23D-9E05599983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DB275F-58C5-614C-AE1A-7640B3733D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AF9EC-8012-1F4A-AE8D-5F4A36996518}" type="datetimeFigureOut">
              <a:rPr lang="de-DE" smtClean="0"/>
              <a:t>31.05.26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0DF82B-13A7-E34F-96F0-BE613545C8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D33D88-AF07-B249-A895-58D33190EC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52498-D89F-D245-A8A0-401067CC5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193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854BB-5908-0843-BA41-B7E7E599A04D}" type="datetimeFigureOut">
              <a:rPr lang="de-DE" smtClean="0"/>
              <a:t>31.05.26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7E9B5-BB04-A741-9555-7CF01DDDA8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26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1pPr>
    <a:lvl2pPr marL="389582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2pPr>
    <a:lvl3pPr marL="779163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3pPr>
    <a:lvl4pPr marL="1168745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4pPr>
    <a:lvl5pPr marL="1558326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5pPr>
    <a:lvl6pPr marL="1947908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95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59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84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781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87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3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50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346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17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49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49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4559301"/>
            <a:ext cx="9144000" cy="592667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0" y="4550835"/>
            <a:ext cx="9144000" cy="5926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523" b="1" i="0" cap="all" baseline="0">
                <a:solidFill>
                  <a:srgbClr val="025249"/>
                </a:solidFill>
                <a:latin typeface="Montserrat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5840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1"/>
            <a:ext cx="9144000" cy="592667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0" y="2"/>
            <a:ext cx="9144000" cy="592667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523" b="1" i="0" cap="all" baseline="0">
                <a:solidFill>
                  <a:srgbClr val="025249"/>
                </a:solidFill>
                <a:latin typeface="Montserrat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54046EA0-476F-F64F-8694-855A1E7DAD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7570" y="769545"/>
            <a:ext cx="8768862" cy="3996928"/>
          </a:xfrm>
        </p:spPr>
        <p:txBody>
          <a:bodyPr/>
          <a:lstStyle>
            <a:lvl1pPr>
              <a:defRPr b="1">
                <a:solidFill>
                  <a:srgbClr val="FB8E20"/>
                </a:solidFill>
              </a:defRPr>
            </a:lvl1pPr>
          </a:lstStyle>
          <a:p>
            <a:r>
              <a:rPr lang="de-DE" dirty="0"/>
              <a:t>Mastertextformat bearbeiten
	</a:t>
            </a:r>
            <a:r>
              <a:rPr lang="de-DE" dirty="0" err="1"/>
              <a:t>fasdfsdf</a:t>
            </a:r>
            <a:r>
              <a:rPr lang="de-DE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551088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4559301"/>
            <a:ext cx="9144000" cy="34289"/>
          </a:xfrm>
          <a:prstGeom prst="rect">
            <a:avLst/>
          </a:prstGeom>
          <a:solidFill>
            <a:srgbClr val="5AB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7"/>
          </a:p>
        </p:txBody>
      </p:sp>
    </p:spTree>
    <p:extLst>
      <p:ext uri="{BB962C8B-B14F-4D97-AF65-F5344CB8AC3E}">
        <p14:creationId xmlns:p14="http://schemas.microsoft.com/office/powerpoint/2010/main" val="117664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57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51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36544F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rgbClr val="36544F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36544F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36544F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router/latest" TargetMode="Externa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router/latest" TargetMode="Externa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router/latest" TargetMode="Externa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start/latest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0FA0-AD18-CEF8-A55C-980F9D38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3A2BE-9A24-7E05-1F2A-748F5585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Beispiel...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783872-3266-E675-B580-368C540FE7EB}"/>
              </a:ext>
            </a:extLst>
          </p:cNvPr>
          <p:cNvSpPr txBox="1"/>
          <p:nvPr/>
        </p:nvSpPr>
        <p:spPr>
          <a:xfrm>
            <a:off x="238222" y="692175"/>
            <a:ext cx="2191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1778B8"/>
                </a:solidFill>
              </a:rPr>
              <a:t>http://localhost:3000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254B5A3-FE9F-EF58-D6A7-A96452D9B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591" y="1161013"/>
            <a:ext cx="4969348" cy="371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6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5718-8593-006C-EA6C-94FCBCC0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FC39B-3715-B368-3093-55957217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Beispiel...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664832-8AF0-74E0-529F-BCCBB98E6340}"/>
              </a:ext>
            </a:extLst>
          </p:cNvPr>
          <p:cNvSpPr txBox="1">
            <a:spLocks/>
          </p:cNvSpPr>
          <p:nvPr/>
        </p:nvSpPr>
        <p:spPr>
          <a:xfrm>
            <a:off x="187570" y="769545"/>
            <a:ext cx="8858894" cy="2266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Ein Beispiel...</a:t>
            </a:r>
            <a:endParaRPr lang="de-DE" b="0" dirty="0">
              <a:solidFill>
                <a:srgbClr val="36544F"/>
              </a:solidFill>
            </a:endParaRPr>
          </a:p>
          <a:p>
            <a:r>
              <a:rPr lang="de-DE" b="0" dirty="0">
                <a:solidFill>
                  <a:srgbClr val="36544F"/>
                </a:solidFill>
              </a:rPr>
              <a:t>Brauchen wir dafür JavaScript im Browser? React? Angular?</a:t>
            </a:r>
          </a:p>
        </p:txBody>
      </p:sp>
    </p:spTree>
    <p:extLst>
      <p:ext uri="{BB962C8B-B14F-4D97-AF65-F5344CB8AC3E}">
        <p14:creationId xmlns:p14="http://schemas.microsoft.com/office/powerpoint/2010/main" val="159009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22ED-44EE-8BC9-F21E-C3F78E6AC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6F3C7E92-370D-0F14-4183-8CADE6373032}"/>
              </a:ext>
            </a:extLst>
          </p:cNvPr>
          <p:cNvSpPr txBox="1"/>
          <p:nvPr/>
        </p:nvSpPr>
        <p:spPr>
          <a:xfrm>
            <a:off x="1983179" y="7042068"/>
            <a:ext cx="184731" cy="461665"/>
          </a:xfrm>
          <a:prstGeom prst="rect">
            <a:avLst/>
          </a:prstGeom>
          <a:solidFill>
            <a:srgbClr val="FFFDF9"/>
          </a:solidFill>
        </p:spPr>
        <p:txBody>
          <a:bodyPr wrap="none" rtlCol="0">
            <a:spAutoFit/>
          </a:bodyPr>
          <a:lstStyle/>
          <a:p>
            <a:pPr algn="l"/>
            <a:endParaRPr lang="de-DE" sz="2400" dirty="0">
              <a:solidFill>
                <a:srgbClr val="FF0000"/>
              </a:solidFill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A78695D-0538-E41A-75C4-E7DB0A74E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46F6C59-A44C-C926-4D8A-15B01149885D}"/>
              </a:ext>
            </a:extLst>
          </p:cNvPr>
          <p:cNvSpPr/>
          <p:nvPr/>
        </p:nvSpPr>
        <p:spPr>
          <a:xfrm>
            <a:off x="6" y="2051079"/>
            <a:ext cx="9143994" cy="601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e-DE" sz="2800" b="1" dirty="0">
                <a:solidFill>
                  <a:srgbClr val="36544F"/>
                </a:solidFill>
                <a:latin typeface="Montserrat" charset="0"/>
                <a:ea typeface="Montserrat" charset="0"/>
                <a:cs typeface="Montserrat" charset="0"/>
              </a:rPr>
              <a:t>...zur Einordnung...</a:t>
            </a:r>
            <a:endParaRPr lang="de-DE" b="1" dirty="0">
              <a:solidFill>
                <a:srgbClr val="36544F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50B8F62-B5FC-80EF-CAF7-AE68B1F995BC}"/>
              </a:ext>
            </a:extLst>
          </p:cNvPr>
          <p:cNvSpPr txBox="1"/>
          <p:nvPr/>
        </p:nvSpPr>
        <p:spPr>
          <a:xfrm>
            <a:off x="415247" y="3269907"/>
            <a:ext cx="8313494" cy="923330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5400" b="1" i="1" dirty="0">
                <a:solidFill>
                  <a:srgbClr val="1778B8"/>
                </a:solidFill>
                <a:latin typeface="Candara" panose="020E0502030303020204" pitchFamily="34" charset="0"/>
              </a:rPr>
              <a:t> Architekturen</a:t>
            </a:r>
            <a:r>
              <a:rPr lang="de-DE" sz="5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für </a:t>
            </a:r>
            <a:r>
              <a:rPr lang="de-DE" sz="5400" b="1" i="1" dirty="0">
                <a:solidFill>
                  <a:srgbClr val="FB8E20"/>
                </a:solidFill>
                <a:latin typeface="Candara" panose="020E0502030303020204" pitchFamily="34" charset="0"/>
              </a:rPr>
              <a:t>Webapps </a:t>
            </a:r>
          </a:p>
        </p:txBody>
      </p:sp>
    </p:spTree>
    <p:extLst>
      <p:ext uri="{BB962C8B-B14F-4D97-AF65-F5344CB8AC3E}">
        <p14:creationId xmlns:p14="http://schemas.microsoft.com/office/powerpoint/2010/main" val="2611233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46473-6D92-FB60-5827-E5680258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4163A-A12D-53C7-3C41-B1EECC5F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E94A5B7-5FEA-E10D-9E6D-9D259448D659}"/>
              </a:ext>
            </a:extLst>
          </p:cNvPr>
          <p:cNvSpPr txBox="1"/>
          <p:nvPr/>
        </p:nvSpPr>
        <p:spPr>
          <a:xfrm>
            <a:off x="374986" y="4271609"/>
            <a:ext cx="1972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Klassisch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18873C-88FE-D092-36C8-BBCED378A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764" y="1591790"/>
            <a:ext cx="1526618" cy="254633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017ACA8-4B03-1A43-471A-E3E5F7D48FF3}"/>
              </a:ext>
            </a:extLst>
          </p:cNvPr>
          <p:cNvSpPr txBox="1"/>
          <p:nvPr/>
        </p:nvSpPr>
        <p:spPr>
          <a:xfrm>
            <a:off x="6805768" y="4271609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Single-Page-App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4201C1-8337-3390-C0CA-91339F907B72}"/>
              </a:ext>
            </a:extLst>
          </p:cNvPr>
          <p:cNvSpPr txBox="1"/>
          <p:nvPr/>
        </p:nvSpPr>
        <p:spPr>
          <a:xfrm>
            <a:off x="339911" y="883022"/>
            <a:ext cx="523733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„Klassisch“ vs. Single-Page-Anwendung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6438C36-166D-3EC2-6BF8-CDBAB0222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33" y="1591789"/>
            <a:ext cx="1526616" cy="254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3567-EEC3-9E8E-7E46-09686FC75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411B09-BD56-7A56-AB9E-C271AE9B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360952A-C0C0-1D3B-BBD6-7C144DBA9BC1}"/>
              </a:ext>
            </a:extLst>
          </p:cNvPr>
          <p:cNvSpPr txBox="1"/>
          <p:nvPr/>
        </p:nvSpPr>
        <p:spPr>
          <a:xfrm>
            <a:off x="339911" y="883022"/>
            <a:ext cx="4685898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"Klassisch": Serverseitiges Rendern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D31BFF0-8F55-D032-3DAB-861B99EB35F1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7038009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Server liefert fertige </a:t>
            </a:r>
            <a:r>
              <a:rPr lang="de-DE" dirty="0">
                <a:solidFill>
                  <a:srgbClr val="5AB88F"/>
                </a:solidFill>
                <a:latin typeface="Source Sans Pro SemiBold" panose="020B0503030403020204" pitchFamily="34" charset="0"/>
              </a:rPr>
              <a:t>HTML-Seite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zum Client</a:t>
            </a:r>
          </a:p>
          <a:p>
            <a:pPr>
              <a:lnSpc>
                <a:spcPct val="120000"/>
              </a:lnSpc>
            </a:pPr>
            <a:r>
              <a:rPr lang="de-DE" sz="21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Für jede Interaktion dann Server-</a:t>
            </a:r>
            <a:r>
              <a:rPr lang="de-DE" sz="21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Roundtrip</a:t>
            </a:r>
            <a:r>
              <a:rPr lang="de-DE" sz="21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(Link, Formular)</a:t>
            </a:r>
          </a:p>
          <a:p>
            <a:pPr>
              <a:lnSpc>
                <a:spcPct val="120000"/>
              </a:lnSpc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r>
              <a:rPr lang="de-DE" sz="21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Typische Vertreter: PHP, Java, </a:t>
            </a:r>
            <a:r>
              <a:rPr lang="de-DE" sz="21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dotNET</a:t>
            </a:r>
            <a:r>
              <a:rPr lang="de-DE" sz="21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, ...</a:t>
            </a:r>
            <a:endParaRPr lang="de-DE" sz="2100" dirty="0">
              <a:latin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FCD365-9AF5-16BF-C69B-60179521A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E3E23A6-F428-C881-C30B-6BA99F99CA62}"/>
              </a:ext>
            </a:extLst>
          </p:cNvPr>
          <p:cNvSpPr txBox="1"/>
          <p:nvPr/>
        </p:nvSpPr>
        <p:spPr>
          <a:xfrm>
            <a:off x="253900" y="4260478"/>
            <a:ext cx="1526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HTML-Seite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mit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91241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D437-1917-8D2B-AE58-07D382CB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2C299A-E9A6-760B-8096-D809D83D5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57DA221-A92C-5629-1598-69120D9EBDC5}"/>
              </a:ext>
            </a:extLst>
          </p:cNvPr>
          <p:cNvSpPr txBox="1"/>
          <p:nvPr/>
        </p:nvSpPr>
        <p:spPr>
          <a:xfrm>
            <a:off x="253900" y="4260478"/>
            <a:ext cx="1526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HTML-Seite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mit</a:t>
            </a:r>
          </a:p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E5D6096-B415-98BE-6D2A-62E5D7F43FF9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6926691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Für feingranulare Interaktion wird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eingestreut</a:t>
            </a:r>
            <a:endParaRPr lang="de-DE" b="0" dirty="0">
              <a:solidFill>
                <a:srgbClr val="36544F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9CDFD18-E08F-B0CD-7C14-88EDA57D6FCB}"/>
              </a:ext>
            </a:extLst>
          </p:cNvPr>
          <p:cNvSpPr txBox="1"/>
          <p:nvPr/>
        </p:nvSpPr>
        <p:spPr>
          <a:xfrm>
            <a:off x="339911" y="883022"/>
            <a:ext cx="8395247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"Klassisch": Serverseitiges Rendern plus JavaScript "Schnipsel"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8A6F757-FF0C-9597-F6D4-2D43A3454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8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E659B-F58E-9BAC-2898-61CF4291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DB9A7-E689-6547-5E89-214E6B83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92AB03-053F-A32F-F1B2-9CD8A0994ACA}"/>
              </a:ext>
            </a:extLst>
          </p:cNvPr>
          <p:cNvSpPr txBox="1"/>
          <p:nvPr/>
        </p:nvSpPr>
        <p:spPr>
          <a:xfrm>
            <a:off x="491263" y="4260478"/>
            <a:ext cx="10518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HTML-Seite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mit</a:t>
            </a:r>
          </a:p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D9EBE68-2E78-CBA0-4BD9-AEB8FA70EF20}"/>
              </a:ext>
            </a:extLst>
          </p:cNvPr>
          <p:cNvSpPr txBox="1">
            <a:spLocks/>
          </p:cNvSpPr>
          <p:nvPr/>
        </p:nvSpPr>
        <p:spPr>
          <a:xfrm>
            <a:off x="2105990" y="1580050"/>
            <a:ext cx="6974400" cy="3563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Für feingranulare Interaktion wird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eingestreut</a:t>
            </a:r>
          </a:p>
          <a:p>
            <a:pPr>
              <a:lnSpc>
                <a:spcPct val="120000"/>
              </a:lnSpc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Eigentlich optimal:</a:t>
            </a:r>
          </a:p>
          <a:p>
            <a:pPr lvl="1">
              <a:lnSpc>
                <a:spcPct val="120000"/>
              </a:lnSpc>
            </a:pPr>
            <a:r>
              <a:rPr lang="de-DE" sz="2100" dirty="0">
                <a:latin typeface="Source Sans Pro" panose="020B0503030403020204" pitchFamily="34" charset="0"/>
              </a:rPr>
              <a:t>wir haben </a:t>
            </a:r>
            <a:r>
              <a:rPr lang="de-DE" sz="21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  <a:r>
              <a:rPr lang="de-DE" sz="2100" dirty="0">
                <a:latin typeface="Source Sans Pro" panose="020B0503030403020204" pitchFamily="34" charset="0"/>
              </a:rPr>
              <a:t> nur da, wo wir es </a:t>
            </a:r>
            <a:r>
              <a:rPr lang="de-DE" sz="2100" b="1" dirty="0">
                <a:solidFill>
                  <a:srgbClr val="FB8E20"/>
                </a:solidFill>
                <a:latin typeface="Source Sans Pro SemiBold" panose="020B0503030403020204" pitchFamily="34" charset="0"/>
              </a:rPr>
              <a:t>wirklich</a:t>
            </a:r>
            <a:r>
              <a:rPr lang="de-DE" sz="2100" dirty="0">
                <a:latin typeface="Source Sans Pro" panose="020B0503030403020204" pitchFamily="34" charset="0"/>
              </a:rPr>
              <a:t> brauchen (für Interaktivität)</a:t>
            </a:r>
          </a:p>
          <a:p>
            <a:pPr lvl="1">
              <a:lnSpc>
                <a:spcPct val="120000"/>
              </a:lnSpc>
            </a:pPr>
            <a:r>
              <a:rPr lang="de-DE" sz="2100" dirty="0">
                <a:latin typeface="Source Sans Pro" panose="020B0503030403020204" pitchFamily="34" charset="0"/>
              </a:rPr>
              <a:t>alles andere kann statisches HTML und CSS sein ❤️</a:t>
            </a:r>
          </a:p>
          <a:p>
            <a:pPr>
              <a:lnSpc>
                <a:spcPct val="120000"/>
              </a:lnSpc>
            </a:pPr>
            <a:endParaRPr lang="de-DE" b="0" dirty="0">
              <a:solidFill>
                <a:srgbClr val="36544F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C5AD0AF-994C-5155-109C-9BD4C48E3441}"/>
              </a:ext>
            </a:extLst>
          </p:cNvPr>
          <p:cNvSpPr txBox="1"/>
          <p:nvPr/>
        </p:nvSpPr>
        <p:spPr>
          <a:xfrm>
            <a:off x="339911" y="883022"/>
            <a:ext cx="8395247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"Klassisch": Serverseitiges Rendern plus JavaScript "Schnipsel"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A003457-8889-FE53-7DB0-8F7398CC8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7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765BD-AD46-6B21-FC63-1FB21DEB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ADAEAE-E7CA-14BE-3FB2-DDA677B2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13B9D7F-B3B5-7500-2308-AD03541E2FB0}"/>
              </a:ext>
            </a:extLst>
          </p:cNvPr>
          <p:cNvSpPr txBox="1"/>
          <p:nvPr/>
        </p:nvSpPr>
        <p:spPr>
          <a:xfrm>
            <a:off x="1782991" y="3003176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HTML-Seite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977B3D03-7F60-3DD5-665E-429947F4AE4A}"/>
              </a:ext>
            </a:extLst>
          </p:cNvPr>
          <p:cNvSpPr txBox="1">
            <a:spLocks/>
          </p:cNvSpPr>
          <p:nvPr/>
        </p:nvSpPr>
        <p:spPr>
          <a:xfrm>
            <a:off x="285106" y="2804499"/>
            <a:ext cx="8858894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endParaRPr lang="de-DE" b="0" dirty="0">
              <a:solidFill>
                <a:srgbClr val="36544F"/>
              </a:solidFill>
            </a:endParaRP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Bunter Strauß an Server- und Client-Technologien (Backend-Sprache, Template-Sprache, JavaScript)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0D6B8C3-E5C3-3419-2710-39020DEB7774}"/>
              </a:ext>
            </a:extLst>
          </p:cNvPr>
          <p:cNvSpPr txBox="1"/>
          <p:nvPr/>
        </p:nvSpPr>
        <p:spPr>
          <a:xfrm>
            <a:off x="339911" y="883022"/>
            <a:ext cx="8273419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Konsequenz Serverseitiges Rendern plus JavaScript "Schnipsel"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F9EE985-C16C-B4B6-383A-E3258960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14" y="1635040"/>
            <a:ext cx="820246" cy="13681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6FD9968-5D52-A72E-CC80-32D654E6F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557" y="1635040"/>
            <a:ext cx="820247" cy="13681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46111B8-72D4-3597-FE5B-7D53C6C73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101" y="1635040"/>
            <a:ext cx="820246" cy="136813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B1A2F90-174E-F083-472A-DB2ADF721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4644" y="1635040"/>
            <a:ext cx="820246" cy="136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09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01B0E7-E3D0-4E23-2524-D2BD5D01149B}"/>
              </a:ext>
            </a:extLst>
          </p:cNvPr>
          <p:cNvSpPr txBox="1"/>
          <p:nvPr/>
        </p:nvSpPr>
        <p:spPr>
          <a:xfrm>
            <a:off x="339911" y="883022"/>
            <a:ext cx="3613490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Single-Page-Anwendungen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13BA6AC-5FA3-8CD8-F1EC-7974A56D946F}"/>
              </a:ext>
            </a:extLst>
          </p:cNvPr>
          <p:cNvSpPr txBox="1"/>
          <p:nvPr/>
        </p:nvSpPr>
        <p:spPr>
          <a:xfrm>
            <a:off x="253901" y="4157405"/>
            <a:ext cx="15266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im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Browser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2ECF205-5796-D315-F029-5E6D571EB549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6878983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Vollständig in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 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implementiert</a:t>
            </a: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Ausgeführt komplett </a:t>
            </a:r>
            <a:r>
              <a:rPr lang="de-DE" dirty="0">
                <a:solidFill>
                  <a:srgbClr val="9E60B8"/>
                </a:solidFill>
                <a:latin typeface="Source Sans Pro SemiBold" panose="020B0503030403020204" pitchFamily="34" charset="0"/>
              </a:rPr>
              <a:t>im Browser</a:t>
            </a: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Statisches HTML spielt (fast) keine Rolle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13B80FF-3ECC-2BC4-B383-AE41F2C49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EE35696-B0A5-CD2C-97A7-6C57CF41F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0" y="1631767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46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F1C1-D3AC-2605-BFB4-C5399CDD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8D154-EC6A-1D5E-7D6F-3D9D3AF1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25A7D07-C862-2488-B128-7FFEA2206D2C}"/>
              </a:ext>
            </a:extLst>
          </p:cNvPr>
          <p:cNvSpPr txBox="1"/>
          <p:nvPr/>
        </p:nvSpPr>
        <p:spPr>
          <a:xfrm>
            <a:off x="339911" y="883022"/>
            <a:ext cx="522611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Konsequenz Single-Page-Anwendungen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824D2E-B7CE-4C92-1D67-109CA29160E5}"/>
              </a:ext>
            </a:extLst>
          </p:cNvPr>
          <p:cNvSpPr txBox="1"/>
          <p:nvPr/>
        </p:nvSpPr>
        <p:spPr>
          <a:xfrm>
            <a:off x="253901" y="4157405"/>
            <a:ext cx="15266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im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Browser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2BDC8C1-943F-9D6F-49FF-1F9B17C82864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6878983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Sehr viel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 </a:t>
            </a:r>
            <a:r>
              <a:rPr lang="de-DE" dirty="0">
                <a:solidFill>
                  <a:srgbClr val="B04432"/>
                </a:solidFill>
                <a:latin typeface="Source Sans Pro SemiBold" panose="020B0503030403020204" pitchFamily="34" charset="0"/>
              </a:rPr>
              <a:t>zur Laufzeit</a:t>
            </a:r>
            <a:endParaRPr lang="de-DE" b="0" dirty="0">
              <a:solidFill>
                <a:srgbClr val="B04432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Auch für </a:t>
            </a:r>
            <a:r>
              <a:rPr lang="de-DE" dirty="0">
                <a:solidFill>
                  <a:srgbClr val="5AB88F"/>
                </a:solidFill>
                <a:latin typeface="Source Sans Pro SemiBold" panose="020B0503030403020204" pitchFamily="34" charset="0"/>
              </a:rPr>
              <a:t>statische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Inhalte</a:t>
            </a: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Das JavaScript muss laufen, bevor etwas dargestellt wird</a:t>
            </a:r>
            <a:endParaRPr lang="de-DE" dirty="0">
              <a:solidFill>
                <a:srgbClr val="9E60B8"/>
              </a:solidFill>
              <a:latin typeface="Source Sans Pro SemiBold" panose="020B0503030403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EE5D758-C731-4E6B-E78F-4A74D8104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9FE8B94-2929-D4ED-5948-65995FDC4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0" y="1631767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5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37ABB7-BD05-2E49-AC3C-676347BA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7B0C4E9-51F9-AD56-CA03-63AEFCF96E00}"/>
              </a:ext>
            </a:extLst>
          </p:cNvPr>
          <p:cNvSpPr txBox="1">
            <a:spLocks/>
          </p:cNvSpPr>
          <p:nvPr/>
        </p:nvSpPr>
        <p:spPr>
          <a:xfrm>
            <a:off x="187570" y="769545"/>
            <a:ext cx="8858894" cy="469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Single-Page-Anwendungen</a:t>
            </a:r>
            <a:endParaRPr lang="de-DE" b="0" dirty="0">
              <a:solidFill>
                <a:srgbClr val="36544F"/>
              </a:solidFill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55E4136-3C10-32A0-A141-5645B7D5F2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8131" y="1300542"/>
            <a:ext cx="6600902" cy="3551677"/>
          </a:xfrm>
        </p:spPr>
        <p:txBody>
          <a:bodyPr/>
          <a:lstStyle/>
          <a:p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Problem: nun viel JavaScript im Browser</a:t>
            </a:r>
          </a:p>
          <a:p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Für </a:t>
            </a:r>
            <a:r>
              <a:rPr lang="de-DE" dirty="0">
                <a:solidFill>
                  <a:srgbClr val="65BD82"/>
                </a:solidFill>
                <a:latin typeface="Source Sans Pro SemiBold" panose="020B0503030403020204" pitchFamily="34" charset="0"/>
              </a:rPr>
              <a:t>statische Inhalte</a:t>
            </a:r>
            <a:r>
              <a:rPr lang="de-DE" b="0" dirty="0">
                <a:solidFill>
                  <a:srgbClr val="65BD82"/>
                </a:solidFill>
                <a:latin typeface="Source Sans Pro" panose="020B0503030403020204" pitchFamily="34" charset="0"/>
              </a:rPr>
              <a:t> 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wird aber kein </a:t>
            </a:r>
            <a:r>
              <a:rPr lang="de-DE" b="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benötigt</a:t>
            </a:r>
          </a:p>
          <a:p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668ED8F-887D-FF3D-32EE-71BD7F2A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308407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89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37ABB7-BD05-2E49-AC3C-676347BA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7B0C4E9-51F9-AD56-CA03-63AEFCF96E00}"/>
              </a:ext>
            </a:extLst>
          </p:cNvPr>
          <p:cNvSpPr txBox="1">
            <a:spLocks/>
          </p:cNvSpPr>
          <p:nvPr/>
        </p:nvSpPr>
        <p:spPr>
          <a:xfrm>
            <a:off x="187570" y="769545"/>
            <a:ext cx="8858894" cy="469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Single-Page-Anwendungen</a:t>
            </a:r>
            <a:endParaRPr lang="de-DE" b="0" dirty="0">
              <a:solidFill>
                <a:srgbClr val="36544F"/>
              </a:solidFill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55E4136-3C10-32A0-A141-5645B7D5F2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8131" y="1300542"/>
            <a:ext cx="6600902" cy="355167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JavaScript-Code: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muss zum Browser gesendet werden 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muss vom Browser ausgeführt werden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kann dann die darzustellenden Daten lesen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kann dann erst die Daten anzeigen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erst dann ist die Anwendung einsatzbereit 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Mit jedem Feature wird es mehr </a:t>
            </a:r>
          </a:p>
          <a:p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668ED8F-887D-FF3D-32EE-71BD7F2A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308407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04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A485F7E-7162-F0A2-F4C0-2638EDA8D901}"/>
              </a:ext>
            </a:extLst>
          </p:cNvPr>
          <p:cNvSpPr txBox="1"/>
          <p:nvPr/>
        </p:nvSpPr>
        <p:spPr>
          <a:xfrm>
            <a:off x="339911" y="883022"/>
            <a:ext cx="6691512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Kompromiss: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ServerSide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 Rendering (SSR) von SPAs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D314B2-E8B3-F1DB-64AD-DF348839D41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8131" y="1591821"/>
            <a:ext cx="6600902" cy="355167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SPA wird auch auf dem Server ausgeführt: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Beim initialen Request wird HTML erzeugt 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Browser kann HTML sofort darstellen ✅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Danach wird der komplette JS-Code geladen 🥺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JavaScript-Code wird ausgeführt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Erst dann ist die Anwendung </a:t>
            </a:r>
            <a:r>
              <a:rPr lang="de-DE" sz="2100" u="sng" dirty="0">
                <a:latin typeface="Source Sans Pro" panose="020B0503030403020204" pitchFamily="34" charset="0"/>
              </a:rPr>
              <a:t>interaktiv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r>
              <a:rPr lang="de-DE" sz="2100" dirty="0">
                <a:latin typeface="Source Sans Pro" panose="020B0503030403020204" pitchFamily="34" charset="0"/>
              </a:rPr>
              <a:t>Alle weiteren </a:t>
            </a:r>
            <a:r>
              <a:rPr lang="de-DE" sz="2100" dirty="0" err="1">
                <a:latin typeface="Source Sans Pro" panose="020B0503030403020204" pitchFamily="34" charset="0"/>
              </a:rPr>
              <a:t>Navigationen</a:t>
            </a:r>
            <a:r>
              <a:rPr lang="de-DE" sz="2100" dirty="0">
                <a:latin typeface="Source Sans Pro" panose="020B0503030403020204" pitchFamily="34" charset="0"/>
              </a:rPr>
              <a:t> rein client-seitig (schnell!)</a:t>
            </a:r>
          </a:p>
          <a:p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C641F77-9524-9E5C-3C3F-088EC3219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599686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66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326C3-B1FE-964D-FB58-A93C7898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A485F7E-7162-F0A2-F4C0-2638EDA8D901}"/>
              </a:ext>
            </a:extLst>
          </p:cNvPr>
          <p:cNvSpPr txBox="1"/>
          <p:nvPr/>
        </p:nvSpPr>
        <p:spPr>
          <a:xfrm>
            <a:off x="339911" y="883022"/>
            <a:ext cx="3066993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„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Fullstack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 mit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Next.js</a:t>
            </a:r>
            <a:endParaRPr lang="de-DE" sz="2400" b="1" i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985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9CA1C-B66C-AC27-B3A6-14F3FAAFA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BBB1EA-7A40-2A4A-6D9A-DF3191A72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288C69C-050C-9E08-98FC-27A6A5E78BB1}"/>
              </a:ext>
            </a:extLst>
          </p:cNvPr>
          <p:cNvSpPr txBox="1"/>
          <p:nvPr/>
        </p:nvSpPr>
        <p:spPr>
          <a:xfrm>
            <a:off x="374986" y="4271609"/>
            <a:ext cx="1972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Klassisch 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(im Browser: HTML+</a:t>
            </a:r>
            <a:r>
              <a:rPr lang="de-DE" sz="1400" b="1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JS</a:t>
            </a:r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46EBAD-15F7-9D54-B2C3-C2FDDF3C5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764" y="1591790"/>
            <a:ext cx="1526618" cy="254633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C104C7-6710-CD62-7589-EF6BC6E68CDD}"/>
              </a:ext>
            </a:extLst>
          </p:cNvPr>
          <p:cNvSpPr txBox="1"/>
          <p:nvPr/>
        </p:nvSpPr>
        <p:spPr>
          <a:xfrm>
            <a:off x="6667910" y="4271609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Single-Page-App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(im Browser: nur </a:t>
            </a:r>
            <a:r>
              <a:rPr lang="de-DE" sz="1400" b="1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JS</a:t>
            </a:r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9D40B7F-6119-8FD8-AB51-A3928FC5B215}"/>
              </a:ext>
            </a:extLst>
          </p:cNvPr>
          <p:cNvSpPr txBox="1"/>
          <p:nvPr/>
        </p:nvSpPr>
        <p:spPr>
          <a:xfrm>
            <a:off x="339911" y="883022"/>
            <a:ext cx="3066993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„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Fullstack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 mit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Next.js</a:t>
            </a:r>
            <a:endParaRPr lang="de-DE" sz="2400" b="1" i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9315E210-51A2-F069-DC55-0431AC79A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33" y="1591789"/>
            <a:ext cx="1526616" cy="254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26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5FBD7-82A2-B4CC-0037-2A04587E0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BB80D8-9423-666F-D59D-0D0D73D6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7D9FBD4-7272-8EFC-1C01-C004B4342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764" y="1591790"/>
            <a:ext cx="1526618" cy="254633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99E76CC-7D15-3DFC-8D38-FF56FBA32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248" y="1635040"/>
            <a:ext cx="1526618" cy="254633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9A1B76C-83E9-5D7B-77A9-77B37E716B6A}"/>
              </a:ext>
            </a:extLst>
          </p:cNvPr>
          <p:cNvSpPr txBox="1"/>
          <p:nvPr/>
        </p:nvSpPr>
        <p:spPr>
          <a:xfrm>
            <a:off x="3628872" y="4271609"/>
            <a:ext cx="1927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Next.js</a:t>
            </a:r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-Anwendung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(im Browser: HTML+</a:t>
            </a:r>
            <a:r>
              <a:rPr lang="de-DE" sz="1400" b="1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JS</a:t>
            </a:r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1D31077-ADB1-F6CA-5B4C-C160ACED2024}"/>
              </a:ext>
            </a:extLst>
          </p:cNvPr>
          <p:cNvSpPr txBox="1"/>
          <p:nvPr/>
        </p:nvSpPr>
        <p:spPr>
          <a:xfrm>
            <a:off x="339911" y="883022"/>
            <a:ext cx="3066993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„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Fullstack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“ mit </a:t>
            </a:r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Next.js</a:t>
            </a:r>
            <a:endParaRPr lang="de-DE" sz="2400" b="1" i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50FFF960-9B78-9032-F525-206B2BA23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33" y="1591789"/>
            <a:ext cx="1526616" cy="254633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5B5AD92-C433-431D-B5C0-C7F0ACE41873}"/>
              </a:ext>
            </a:extLst>
          </p:cNvPr>
          <p:cNvSpPr txBox="1"/>
          <p:nvPr/>
        </p:nvSpPr>
        <p:spPr>
          <a:xfrm>
            <a:off x="374986" y="4271609"/>
            <a:ext cx="1972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Klassisch 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(im Browser: HTML+</a:t>
            </a:r>
            <a:r>
              <a:rPr lang="de-DE" sz="1400" b="1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JS</a:t>
            </a:r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1EF6E4F-A0F5-C28C-3A3B-F1280F60B2CA}"/>
              </a:ext>
            </a:extLst>
          </p:cNvPr>
          <p:cNvSpPr txBox="1"/>
          <p:nvPr/>
        </p:nvSpPr>
        <p:spPr>
          <a:xfrm>
            <a:off x="6667910" y="4271609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Single-Page-App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(im Browser: nur </a:t>
            </a:r>
            <a:r>
              <a:rPr lang="de-DE" sz="1400" b="1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JS</a:t>
            </a:r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6502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2038E-77C4-5D2D-FF55-73B6E7CA8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8D9A7-5F3E-D9C3-D064-C282D91A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AEC97C2-ACA5-0398-BAED-8C2A99A4AFF9}"/>
              </a:ext>
            </a:extLst>
          </p:cNvPr>
          <p:cNvSpPr txBox="1"/>
          <p:nvPr/>
        </p:nvSpPr>
        <p:spPr>
          <a:xfrm>
            <a:off x="339911" y="883022"/>
            <a:ext cx="300595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Next.js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-Anwendungen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163A515-1D4E-FC9F-5580-7CF4F706E6F2}"/>
              </a:ext>
            </a:extLst>
          </p:cNvPr>
          <p:cNvSpPr txBox="1"/>
          <p:nvPr/>
        </p:nvSpPr>
        <p:spPr>
          <a:xfrm>
            <a:off x="253901" y="4260478"/>
            <a:ext cx="152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auf dem Server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B8D53D9-37D6-ADBB-5388-45DFD82C6C78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6878983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Vollständig in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 </a:t>
            </a:r>
            <a:r>
              <a:rPr lang="de-DE" dirty="0">
                <a:solidFill>
                  <a:srgbClr val="B58900"/>
                </a:solidFill>
                <a:latin typeface="Source Sans Pro SemiBold" panose="020B0503030403020204" pitchFamily="34" charset="0"/>
              </a:rPr>
              <a:t>entwickelt</a:t>
            </a:r>
            <a:endParaRPr lang="de-DE" b="0" dirty="0">
              <a:solidFill>
                <a:srgbClr val="B58900"/>
              </a:solidFill>
              <a:latin typeface="Source Sans Pro" panose="020B0503030403020204" pitchFamily="34" charset="0"/>
            </a:endParaRP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endParaRPr lang="de-DE" sz="2100" dirty="0"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 SemiBold" panose="020B0503030403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A7C3E7D-17BD-98C7-99CF-27D26DB1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B842AD4-1926-3862-AD18-F12212352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0" y="1631767"/>
            <a:ext cx="1526618" cy="2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118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7D4AD-813D-462B-D8E1-1DCC7EB66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D4BEC8-EE05-C93D-FACF-C1749C74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D85D3BC-C5A5-B194-B8FB-99B1C78D50DB}"/>
              </a:ext>
            </a:extLst>
          </p:cNvPr>
          <p:cNvSpPr txBox="1"/>
          <p:nvPr/>
        </p:nvSpPr>
        <p:spPr>
          <a:xfrm>
            <a:off x="339911" y="883022"/>
            <a:ext cx="300595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Next.js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-Anwendungen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DE251B3-A0A4-B683-89F4-AC92004B9F7A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6878983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Vollständig in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 </a:t>
            </a:r>
            <a:r>
              <a:rPr lang="de-DE" dirty="0">
                <a:solidFill>
                  <a:srgbClr val="B58900"/>
                </a:solidFill>
                <a:latin typeface="Source Sans Pro SemiBold" panose="020B0503030403020204" pitchFamily="34" charset="0"/>
              </a:rPr>
              <a:t>entwickelt</a:t>
            </a:r>
            <a:endParaRPr lang="de-DE" b="0" dirty="0">
              <a:solidFill>
                <a:srgbClr val="B58900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Erzeugt </a:t>
            </a:r>
            <a:r>
              <a:rPr lang="de-DE" dirty="0">
                <a:solidFill>
                  <a:srgbClr val="5AB88F"/>
                </a:solidFill>
                <a:latin typeface="Source Sans Pro SemiBold" panose="020B0503030403020204" pitchFamily="34" charset="0"/>
              </a:rPr>
              <a:t>HTML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auf dem </a:t>
            </a:r>
            <a:r>
              <a:rPr lang="de-DE" dirty="0">
                <a:solidFill>
                  <a:srgbClr val="36544F"/>
                </a:solidFill>
                <a:latin typeface="Source Sans Pro SemiBold" panose="020B0503030403020204" pitchFamily="34" charset="0"/>
              </a:rPr>
              <a:t>Server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endParaRPr lang="de-DE" sz="2100" dirty="0"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 SemiBold" panose="020B0503030403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77B81C0-06C9-E433-3D76-D4FB1DEF0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36F02AA-3B72-FD02-142D-7027615A8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0" y="1631767"/>
            <a:ext cx="1526618" cy="254633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BF7121C-05D1-6599-8549-AFD1CAAFE297}"/>
              </a:ext>
            </a:extLst>
          </p:cNvPr>
          <p:cNvSpPr txBox="1"/>
          <p:nvPr/>
        </p:nvSpPr>
        <p:spPr>
          <a:xfrm>
            <a:off x="253901" y="4260478"/>
            <a:ext cx="152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auf dem Server</a:t>
            </a:r>
          </a:p>
        </p:txBody>
      </p:sp>
    </p:spTree>
    <p:extLst>
      <p:ext uri="{BB962C8B-B14F-4D97-AF65-F5344CB8AC3E}">
        <p14:creationId xmlns:p14="http://schemas.microsoft.com/office/powerpoint/2010/main" val="2062973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32D71-A08D-3001-F7BF-5269586FE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C4E54-378F-7D8F-94A3-05B9DB77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E3628E9-B061-8228-155F-C5FCAFD2EC85}"/>
              </a:ext>
            </a:extLst>
          </p:cNvPr>
          <p:cNvSpPr txBox="1"/>
          <p:nvPr/>
        </p:nvSpPr>
        <p:spPr>
          <a:xfrm>
            <a:off x="339911" y="883022"/>
            <a:ext cx="300595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Next.js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-Anwendungen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36F0384-D525-1CB4-8EB2-1C4E8EAC70D9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6878983" cy="234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Vollständig in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 </a:t>
            </a:r>
            <a:r>
              <a:rPr lang="de-DE" dirty="0">
                <a:solidFill>
                  <a:srgbClr val="B58900"/>
                </a:solidFill>
                <a:latin typeface="Source Sans Pro SemiBold" panose="020B0503030403020204" pitchFamily="34" charset="0"/>
              </a:rPr>
              <a:t>entwickelt</a:t>
            </a:r>
            <a:endParaRPr lang="de-DE" b="0" dirty="0">
              <a:solidFill>
                <a:srgbClr val="B58900"/>
              </a:solidFill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Erzeugt </a:t>
            </a:r>
            <a:r>
              <a:rPr lang="de-DE" dirty="0">
                <a:solidFill>
                  <a:srgbClr val="5AB88F"/>
                </a:solidFill>
                <a:latin typeface="Source Sans Pro SemiBold" panose="020B0503030403020204" pitchFamily="34" charset="0"/>
              </a:rPr>
              <a:t>HTML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auf dem </a:t>
            </a:r>
            <a:r>
              <a:rPr lang="de-DE" dirty="0">
                <a:solidFill>
                  <a:srgbClr val="36544F"/>
                </a:solidFill>
                <a:latin typeface="Source Sans Pro SemiBold" panose="020B0503030403020204" pitchFamily="34" charset="0"/>
              </a:rPr>
              <a:t>Server</a:t>
            </a:r>
          </a:p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Nur der </a:t>
            </a:r>
            <a:r>
              <a:rPr lang="de-DE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JavaScript-Code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für </a:t>
            </a:r>
            <a:r>
              <a:rPr lang="de-DE" dirty="0">
                <a:latin typeface="Source Sans Pro SemiBold" panose="020B0503030403020204" pitchFamily="34" charset="0"/>
              </a:rPr>
              <a:t>Interaktionen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wird zum </a:t>
            </a:r>
            <a:r>
              <a:rPr lang="de-DE" dirty="0">
                <a:solidFill>
                  <a:srgbClr val="9E60B8"/>
                </a:solidFill>
                <a:latin typeface="Source Sans Pro SemiBold" panose="020B0503030403020204" pitchFamily="34" charset="0"/>
              </a:rPr>
              <a:t>Browser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geschickt</a:t>
            </a:r>
          </a:p>
          <a:p>
            <a:pPr marL="800100" lvl="1" indent="-457200">
              <a:lnSpc>
                <a:spcPct val="120000"/>
              </a:lnSpc>
              <a:buFont typeface="+mj-lt"/>
              <a:buAutoNum type="arabicPeriod"/>
            </a:pPr>
            <a:endParaRPr lang="de-DE" sz="2100" dirty="0">
              <a:latin typeface="Source Sans Pro" panose="020B0503030403020204" pitchFamily="34" charset="0"/>
            </a:endParaRPr>
          </a:p>
          <a:p>
            <a:pPr>
              <a:lnSpc>
                <a:spcPct val="120000"/>
              </a:lnSpc>
            </a:pPr>
            <a:endParaRPr lang="de-DE" dirty="0">
              <a:solidFill>
                <a:srgbClr val="36544F"/>
              </a:solidFill>
              <a:latin typeface="Source Sans Pro SemiBold" panose="020B0503030403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15CBA77-C139-6C45-3732-AA101A7C3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4C177F1-75FA-80A4-F5D8-2E54C35D1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0" y="1631767"/>
            <a:ext cx="1526618" cy="254633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1460839-4AFC-95D2-56DF-34C4C8CED750}"/>
              </a:ext>
            </a:extLst>
          </p:cNvPr>
          <p:cNvSpPr txBox="1"/>
          <p:nvPr/>
        </p:nvSpPr>
        <p:spPr>
          <a:xfrm>
            <a:off x="253901" y="4260478"/>
            <a:ext cx="152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</a:t>
            </a:r>
          </a:p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auf dem Server</a:t>
            </a:r>
          </a:p>
        </p:txBody>
      </p:sp>
    </p:spTree>
    <p:extLst>
      <p:ext uri="{BB962C8B-B14F-4D97-AF65-F5344CB8AC3E}">
        <p14:creationId xmlns:p14="http://schemas.microsoft.com/office/powerpoint/2010/main" val="949501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2F3C7-37FB-D251-7F62-0DA75FD99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397CE9-F77D-3028-F793-A4F6282B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Webanwendungen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D972AE4-FB62-7E52-8074-880713FE44BC}"/>
              </a:ext>
            </a:extLst>
          </p:cNvPr>
          <p:cNvSpPr txBox="1"/>
          <p:nvPr/>
        </p:nvSpPr>
        <p:spPr>
          <a:xfrm>
            <a:off x="339911" y="883022"/>
            <a:ext cx="3005951" cy="461665"/>
          </a:xfrm>
          <a:prstGeom prst="rect">
            <a:avLst/>
          </a:prstGeom>
          <a:solidFill>
            <a:srgbClr val="FFFDF9"/>
          </a:solidFill>
          <a:ln w="15875">
            <a:solidFill>
              <a:schemeClr val="accent1"/>
            </a:solidFill>
          </a:ln>
          <a:effectLst>
            <a:outerShdw blurRad="241085" dist="106743" dir="3480000" sx="100928" sy="100928" algn="tl" rotWithShape="0">
              <a:prstClr val="black">
                <a:alpha val="32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de-DE" sz="2400" b="1" i="1" dirty="0" err="1">
                <a:solidFill>
                  <a:srgbClr val="36544F"/>
                </a:solidFill>
                <a:latin typeface="Candara" panose="020E0502030303020204" pitchFamily="34" charset="0"/>
              </a:rPr>
              <a:t>Next.js</a:t>
            </a:r>
            <a:r>
              <a:rPr lang="de-DE" sz="2400" b="1" i="1" dirty="0">
                <a:solidFill>
                  <a:srgbClr val="36544F"/>
                </a:solidFill>
                <a:latin typeface="Candara" panose="020E0502030303020204" pitchFamily="34" charset="0"/>
              </a:rPr>
              <a:t>-Anwendungen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BCCEF0F-DBE4-2B12-6216-7FB759FA8E13}"/>
              </a:ext>
            </a:extLst>
          </p:cNvPr>
          <p:cNvSpPr txBox="1"/>
          <p:nvPr/>
        </p:nvSpPr>
        <p:spPr>
          <a:xfrm>
            <a:off x="253901" y="4260478"/>
            <a:ext cx="152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rgbClr val="36544F"/>
                </a:solidFill>
                <a:latin typeface="Source Sans Pro" panose="020B0503030403020204" pitchFamily="34" charset="0"/>
              </a:rPr>
              <a:t>im Browser: HTML+</a:t>
            </a:r>
            <a:r>
              <a:rPr lang="de-DE" sz="1400" b="1" dirty="0">
                <a:solidFill>
                  <a:srgbClr val="1778B8"/>
                </a:solidFill>
                <a:latin typeface="Source Sans Pro SemiBold" panose="020B0503030403020204" pitchFamily="34" charset="0"/>
              </a:rPr>
              <a:t>JS</a:t>
            </a:r>
            <a:endParaRPr lang="de-DE" sz="140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90AF442-1256-8B2B-982B-B663CDAC3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0" y="1631767"/>
            <a:ext cx="1526618" cy="254633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9AE2208-CC19-EC0A-0CC6-96B2889F5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9" y="1631766"/>
            <a:ext cx="1526618" cy="2546336"/>
          </a:xfrm>
          <a:prstGeom prst="rect">
            <a:avLst/>
          </a:prstGeom>
        </p:spPr>
      </p:pic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C4F6D2C3-739B-CE5F-94EA-BF3B9E5A492F}"/>
              </a:ext>
            </a:extLst>
          </p:cNvPr>
          <p:cNvSpPr txBox="1">
            <a:spLocks/>
          </p:cNvSpPr>
          <p:nvPr/>
        </p:nvSpPr>
        <p:spPr>
          <a:xfrm>
            <a:off x="2105990" y="1580051"/>
            <a:ext cx="6841792" cy="3551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Wir sind zurück zur </a:t>
            </a:r>
            <a:r>
              <a:rPr lang="de-DE" b="0" dirty="0">
                <a:solidFill>
                  <a:srgbClr val="1778B8"/>
                </a:solidFill>
                <a:latin typeface="Source Sans Pro" panose="020B0503030403020204" pitchFamily="34" charset="0"/>
              </a:rPr>
              <a:t>JavaScript-Schnipsel</a:t>
            </a:r>
            <a:r>
              <a:rPr lang="de-DE" b="0" dirty="0">
                <a:solidFill>
                  <a:srgbClr val="36544F"/>
                </a:solidFill>
                <a:latin typeface="Source Sans Pro" panose="020B0503030403020204" pitchFamily="34" charset="0"/>
              </a:rPr>
              <a:t>-Architektur</a:t>
            </a:r>
          </a:p>
          <a:p>
            <a:pPr lvl="1">
              <a:lnSpc>
                <a:spcPct val="120000"/>
              </a:lnSpc>
            </a:pPr>
            <a:r>
              <a:rPr lang="de-DE" sz="2100" dirty="0">
                <a:latin typeface="Source Sans Pro" panose="020B0503030403020204" pitchFamily="34" charset="0"/>
              </a:rPr>
              <a:t>aber: die Schnipsel werden von </a:t>
            </a:r>
            <a:r>
              <a:rPr lang="de-DE" sz="2100" dirty="0" err="1">
                <a:latin typeface="Source Sans Pro" panose="020B0503030403020204" pitchFamily="34" charset="0"/>
              </a:rPr>
              <a:t>Next.js</a:t>
            </a:r>
            <a:r>
              <a:rPr lang="de-DE" sz="2100" dirty="0">
                <a:latin typeface="Source Sans Pro" panose="020B0503030403020204" pitchFamily="34" charset="0"/>
              </a:rPr>
              <a:t> erzeugt</a:t>
            </a:r>
          </a:p>
          <a:p>
            <a:pPr lvl="1">
              <a:lnSpc>
                <a:spcPct val="120000"/>
              </a:lnSpc>
            </a:pPr>
            <a:r>
              <a:rPr lang="de-DE" sz="2100" dirty="0">
                <a:latin typeface="Source Sans Pro" panose="020B0503030403020204" pitchFamily="34" charset="0"/>
              </a:rPr>
              <a:t>die Schnipsel existieren nur zur </a:t>
            </a:r>
            <a:r>
              <a:rPr lang="de-DE" sz="2100" dirty="0">
                <a:solidFill>
                  <a:srgbClr val="9E60B8"/>
                </a:solidFill>
                <a:latin typeface="Source Sans Pro" panose="020B0503030403020204" pitchFamily="34" charset="0"/>
              </a:rPr>
              <a:t>Laufzeit</a:t>
            </a:r>
          </a:p>
          <a:p>
            <a:pPr lvl="1">
              <a:lnSpc>
                <a:spcPct val="120000"/>
              </a:lnSpc>
            </a:pPr>
            <a:r>
              <a:rPr lang="de-DE" sz="2100" dirty="0">
                <a:latin typeface="Source Sans Pro" panose="020B0503030403020204" pitchFamily="34" charset="0"/>
              </a:rPr>
              <a:t>In der </a:t>
            </a:r>
            <a:r>
              <a:rPr lang="de-DE" sz="2100" dirty="0">
                <a:solidFill>
                  <a:srgbClr val="B58900"/>
                </a:solidFill>
                <a:latin typeface="Source Sans Pro" panose="020B0503030403020204" pitchFamily="34" charset="0"/>
              </a:rPr>
              <a:t>Entwicklung</a:t>
            </a:r>
            <a:r>
              <a:rPr lang="de-DE" sz="2100" dirty="0">
                <a:latin typeface="Source Sans Pro" panose="020B0503030403020204" pitchFamily="34" charset="0"/>
              </a:rPr>
              <a:t> </a:t>
            </a:r>
            <a:r>
              <a:rPr lang="de-DE" sz="2100" u="sng" dirty="0">
                <a:latin typeface="Source Sans Pro" panose="020B0503030403020204" pitchFamily="34" charset="0"/>
              </a:rPr>
              <a:t>eine</a:t>
            </a:r>
            <a:r>
              <a:rPr lang="de-DE" sz="2100" dirty="0">
                <a:latin typeface="Source Sans Pro" panose="020B0503030403020204" pitchFamily="34" charset="0"/>
              </a:rPr>
              <a:t> Code-Basis</a:t>
            </a:r>
          </a:p>
          <a:p>
            <a:pPr lvl="1">
              <a:lnSpc>
                <a:spcPct val="120000"/>
              </a:lnSpc>
            </a:pPr>
            <a:endParaRPr lang="de-DE" sz="2100" dirty="0">
              <a:solidFill>
                <a:srgbClr val="9E60B8"/>
              </a:solidFill>
              <a:latin typeface="Source Sans Pro" panose="020B0503030403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de-DE" sz="2000" dirty="0">
                <a:solidFill>
                  <a:srgbClr val="9E60B8"/>
                </a:solidFill>
                <a:latin typeface="Source Sans Pro" panose="020B0503030403020204" pitchFamily="34" charset="0"/>
              </a:rPr>
              <a:t>🤔</a:t>
            </a:r>
            <a:r>
              <a:rPr lang="de-DE" sz="2400" dirty="0">
                <a:solidFill>
                  <a:srgbClr val="9E60B8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Bestes aus beiden Welten?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endParaRPr lang="de-DE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lvl="1"/>
            <a:endParaRPr lang="de-DE" sz="2100" dirty="0">
              <a:latin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="0" dirty="0">
              <a:solidFill>
                <a:srgbClr val="36544F"/>
              </a:solidFill>
            </a:endParaRPr>
          </a:p>
          <a:p>
            <a:endParaRPr lang="de-DE" b="0" dirty="0">
              <a:solidFill>
                <a:srgbClr val="3654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760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89DE4-B889-BB5E-76CF-2B21923E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7556EC1-CDAF-0576-9A09-CB0375BD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BA8C6E6-8ED5-196E-15FF-0F74FCADEEFD}"/>
              </a:ext>
            </a:extLst>
          </p:cNvPr>
          <p:cNvSpPr/>
          <p:nvPr/>
        </p:nvSpPr>
        <p:spPr>
          <a:xfrm>
            <a:off x="0" y="1878020"/>
            <a:ext cx="9144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3800" b="1" dirty="0" err="1">
                <a:solidFill>
                  <a:srgbClr val="9E60B8"/>
                </a:solidFill>
                <a:latin typeface="Montserrat" charset="0"/>
                <a:ea typeface="Montserrat" charset="0"/>
                <a:cs typeface="Montserrat" charset="0"/>
              </a:rPr>
              <a:t>TanStack</a:t>
            </a:r>
            <a:endParaRPr lang="de-DE" b="1" dirty="0">
              <a:solidFill>
                <a:srgbClr val="9E60B8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AC07C80-4D80-B6EE-DD00-57707EBCB40C}"/>
              </a:ext>
            </a:extLst>
          </p:cNvPr>
          <p:cNvSpPr/>
          <p:nvPr/>
        </p:nvSpPr>
        <p:spPr>
          <a:xfrm>
            <a:off x="0" y="186129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6600" b="1" u="sng" dirty="0" err="1">
                <a:solidFill>
                  <a:srgbClr val="FB8E20"/>
                </a:solidFill>
                <a:latin typeface="Montserrat" charset="0"/>
                <a:ea typeface="Montserrat" charset="0"/>
                <a:cs typeface="Montserrat" charset="0"/>
              </a:rPr>
              <a:t>Fullstack</a:t>
            </a:r>
            <a:r>
              <a:rPr lang="de-DE" sz="6600" b="1" u="sng" dirty="0">
                <a:solidFill>
                  <a:srgbClr val="FB8E20"/>
                </a:solidFill>
                <a:latin typeface="Montserrat" charset="0"/>
                <a:ea typeface="Montserrat" charset="0"/>
                <a:cs typeface="Montserrat" charset="0"/>
              </a:rPr>
              <a:t> React</a:t>
            </a:r>
            <a:endParaRPr lang="de-DE" sz="1200" b="1" u="sng" dirty="0">
              <a:solidFill>
                <a:srgbClr val="36544F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EDFB838-90C2-CD45-B8A2-2A89F8B5B434}"/>
              </a:ext>
            </a:extLst>
          </p:cNvPr>
          <p:cNvSpPr/>
          <p:nvPr/>
        </p:nvSpPr>
        <p:spPr>
          <a:xfrm>
            <a:off x="0" y="1267954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6600" b="1" dirty="0">
                <a:solidFill>
                  <a:srgbClr val="36544F"/>
                </a:solidFill>
                <a:latin typeface="Montserrat" charset="0"/>
                <a:ea typeface="Montserrat" charset="0"/>
                <a:cs typeface="Montserrat" charset="0"/>
              </a:rPr>
              <a:t>mit</a:t>
            </a:r>
            <a:endParaRPr lang="de-DE" sz="1200" b="1" dirty="0">
              <a:solidFill>
                <a:srgbClr val="36544F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249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2C6A-8BF3-AF39-EB2E-949CEA40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A7C9D-B963-C8BE-40A7-1D367D736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Hintergrund: </a:t>
            </a:r>
            <a:r>
              <a:rPr lang="de-DE" dirty="0" err="1"/>
              <a:t>TanStack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36032C-23CA-7F83-AFBB-E0D58D340B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947851"/>
            <a:ext cx="8768862" cy="419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endParaRPr lang="de-DE" sz="4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E465F4-B224-FF6F-3FAE-EB51A5ACF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926" y="2118360"/>
            <a:ext cx="5882148" cy="276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9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C29D-3DAF-F535-511D-CE822D73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B40774-D023-446C-BEC0-75009C62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CC7F584-8EC1-2A35-BD0C-EA6270670CCA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6E4670E-E3FD-8B2F-B037-7D66599595BA}"/>
              </a:ext>
            </a:extLst>
          </p:cNvPr>
          <p:cNvSpPr txBox="1"/>
          <p:nvPr/>
        </p:nvSpPr>
        <p:spPr>
          <a:xfrm rot="21137164">
            <a:off x="6329998" y="1058331"/>
            <a:ext cx="1970412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aka React Query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80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51B3-FB5D-D0B6-B7AA-A20987D2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D5FDCB-6B97-3C24-2A57-2155EDF3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88C694-721A-73D8-D33A-E26CC0C7B5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FF6BEDC-8A13-CE02-7E23-7802D79B220D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2504F4D-E05C-B85C-C210-EC7A28CD979D}"/>
              </a:ext>
            </a:extLst>
          </p:cNvPr>
          <p:cNvSpPr txBox="1"/>
          <p:nvPr/>
        </p:nvSpPr>
        <p:spPr>
          <a:xfrm rot="21137164">
            <a:off x="6329998" y="1058331"/>
            <a:ext cx="1970412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aka React Query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268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AA543-87E9-B614-22F9-553DF5C63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DFA921-9FB0-DCD2-42DD-9B8B3255C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E60959-24D8-BFE0-566A-33742AB901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1F847F0-3972-CE3C-2F62-EE671458DEF1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D3A8EB82-CBED-0BFA-14ED-F2E2842D2838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39AE02A-4AD3-FC18-9595-DA9CDD0F6A2B}"/>
              </a:ext>
            </a:extLst>
          </p:cNvPr>
          <p:cNvSpPr txBox="1"/>
          <p:nvPr/>
        </p:nvSpPr>
        <p:spPr>
          <a:xfrm rot="21137164">
            <a:off x="6329998" y="1058331"/>
            <a:ext cx="1970412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aka React Query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245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9114D-6DC0-E37E-545D-DF393F4BF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3FEDF-3142-7758-AB47-EF68BC5DA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E52347-B836-F113-2148-625AD7E359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3996973-6D29-082B-240E-F1A69605F7F6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A99DE4-9134-B6E1-EBAB-4AF87F97E933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33E9B4F-12A1-912A-C0E7-F2A0968C5AD7}"/>
              </a:ext>
            </a:extLst>
          </p:cNvPr>
          <p:cNvSpPr txBox="1"/>
          <p:nvPr/>
        </p:nvSpPr>
        <p:spPr>
          <a:xfrm rot="21137164">
            <a:off x="4332991" y="4161335"/>
            <a:ext cx="478016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RC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96009B8-1489-9433-2EBB-95B183D7522D}"/>
              </a:ext>
            </a:extLst>
          </p:cNvPr>
          <p:cNvSpPr txBox="1"/>
          <p:nvPr/>
        </p:nvSpPr>
        <p:spPr>
          <a:xfrm rot="21137164">
            <a:off x="6329998" y="1058331"/>
            <a:ext cx="1970412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aka React Query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094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8006-6B3E-AC09-7825-0A2FD41A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B6195-62D2-5CC7-B3EB-F46F1657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0529A9-940D-9D4A-6BD2-F608944211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6F07FF3-282F-D886-2844-9F76E7949896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D9BB6A44-0B39-47A6-E23B-CE950B915C29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C03DAD4-9969-E9B1-E8A6-504B86AA94EB}"/>
              </a:ext>
            </a:extLst>
          </p:cNvPr>
          <p:cNvSpPr txBox="1"/>
          <p:nvPr/>
        </p:nvSpPr>
        <p:spPr>
          <a:xfrm rot="21137164">
            <a:off x="5885675" y="763538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3CFB55-A242-08BC-8A43-48D23907AB9D}"/>
              </a:ext>
            </a:extLst>
          </p:cNvPr>
          <p:cNvSpPr/>
          <p:nvPr/>
        </p:nvSpPr>
        <p:spPr>
          <a:xfrm>
            <a:off x="644056" y="2099144"/>
            <a:ext cx="8046720" cy="2955779"/>
          </a:xfrm>
          <a:prstGeom prst="rect">
            <a:avLst/>
          </a:prstGeom>
          <a:solidFill>
            <a:srgbClr val="D4EBEA">
              <a:alpha val="87980"/>
            </a:srgbClr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5030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7AF4-89FA-81E6-0C46-3869D9B5D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E5EF74-3170-0C43-B6BD-EACF9E64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61996B-4FAF-A25B-47A1-926605A1DC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FB37028-9741-A95E-8224-4A025FC6542D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D957CFD3-C2D9-F283-E793-201350E24612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FF4C320-12D9-C265-0B4D-9BC171C2CB88}"/>
              </a:ext>
            </a:extLst>
          </p:cNvPr>
          <p:cNvSpPr txBox="1"/>
          <p:nvPr/>
        </p:nvSpPr>
        <p:spPr>
          <a:xfrm rot="21137164">
            <a:off x="5885675" y="763538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E71ADFC-B874-1EF4-955A-2EE1207A4FA7}"/>
              </a:ext>
            </a:extLst>
          </p:cNvPr>
          <p:cNvSpPr/>
          <p:nvPr/>
        </p:nvSpPr>
        <p:spPr>
          <a:xfrm>
            <a:off x="644056" y="3515457"/>
            <a:ext cx="8046720" cy="1539466"/>
          </a:xfrm>
          <a:prstGeom prst="rect">
            <a:avLst/>
          </a:prstGeom>
          <a:solidFill>
            <a:srgbClr val="D4EBEA">
              <a:alpha val="87980"/>
            </a:srgbClr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5E96F87-7C8D-3DC2-4627-01DF59D6A96F}"/>
              </a:ext>
            </a:extLst>
          </p:cNvPr>
          <p:cNvSpPr txBox="1"/>
          <p:nvPr/>
        </p:nvSpPr>
        <p:spPr>
          <a:xfrm rot="21137164">
            <a:off x="5885676" y="2291517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411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0DE8D-FB80-697E-1936-92AF887B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810748-7B39-290F-8FBE-09BF274BE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A6EBC5-4DE1-1822-9A32-6F4EBB28F6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BA7CF6C-8F9B-CE60-0A22-AB54D2D13CB3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1E5AD613-04BE-C461-9160-7727DA3C3FC4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44C5A9E-5C2F-A8DC-D0B2-DEEC191C450C}"/>
              </a:ext>
            </a:extLst>
          </p:cNvPr>
          <p:cNvSpPr txBox="1"/>
          <p:nvPr/>
        </p:nvSpPr>
        <p:spPr>
          <a:xfrm rot="21137164">
            <a:off x="5885675" y="763538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AEEE79A-57E3-EA7F-4F11-9425FDD7CFEC}"/>
              </a:ext>
            </a:extLst>
          </p:cNvPr>
          <p:cNvSpPr txBox="1"/>
          <p:nvPr/>
        </p:nvSpPr>
        <p:spPr>
          <a:xfrm rot="21137164">
            <a:off x="5885676" y="2291517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F38B60F-40D5-3E36-A53F-EE8184A8766F}"/>
              </a:ext>
            </a:extLst>
          </p:cNvPr>
          <p:cNvSpPr txBox="1"/>
          <p:nvPr/>
        </p:nvSpPr>
        <p:spPr>
          <a:xfrm rot="21137164">
            <a:off x="5346313" y="3772762"/>
            <a:ext cx="1997663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Based</a:t>
            </a:r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 on Router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944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F02-E3A4-4DFC-C8F8-C99B54CD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5C7F1-9977-B9DE-F9A7-6E9A1EF0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Technology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CBF93D-9F86-29BB-776A-4C2A4848BF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69" y="2257180"/>
            <a:ext cx="8768862" cy="12582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Routing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Router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D1F2034-1AC2-EE4C-C1AD-D6A7CBCF6CF0}"/>
              </a:ext>
            </a:extLst>
          </p:cNvPr>
          <p:cNvSpPr txBox="1">
            <a:spLocks/>
          </p:cNvSpPr>
          <p:nvPr/>
        </p:nvSpPr>
        <p:spPr>
          <a:xfrm>
            <a:off x="187570" y="717715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>
                <a:solidFill>
                  <a:srgbClr val="36544F"/>
                </a:solidFill>
                <a:latin typeface="Source Sans Pro" panose="020B0503030403020204" pitchFamily="34" charset="0"/>
              </a:rPr>
              <a:t>Data </a:t>
            </a: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Query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725DF999-2D5C-0502-43E6-9EC5353DD789}"/>
              </a:ext>
            </a:extLst>
          </p:cNvPr>
          <p:cNvSpPr txBox="1">
            <a:spLocks/>
          </p:cNvSpPr>
          <p:nvPr/>
        </p:nvSpPr>
        <p:spPr>
          <a:xfrm>
            <a:off x="187570" y="3796646"/>
            <a:ext cx="8768862" cy="125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rgbClr val="FB8E20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rgbClr val="36544F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2400" u="sng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Fullstack</a:t>
            </a:r>
            <a:endParaRPr lang="de-DE" sz="2400" u="sng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4000" i="1" dirty="0">
                <a:latin typeface="Candara" panose="020E0502030303020204" pitchFamily="34" charset="0"/>
              </a:rPr>
              <a:t>Start </a:t>
            </a:r>
            <a:r>
              <a:rPr lang="de-DE" sz="4000" i="1" dirty="0">
                <a:solidFill>
                  <a:srgbClr val="36544F"/>
                </a:solidFill>
                <a:latin typeface="Candara" panose="020E0502030303020204" pitchFamily="34" charset="0"/>
              </a:rPr>
              <a:t>=</a:t>
            </a:r>
            <a:r>
              <a:rPr lang="de-DE" sz="4000" i="1" dirty="0">
                <a:latin typeface="Candara" panose="020E0502030303020204" pitchFamily="34" charset="0"/>
              </a:rPr>
              <a:t> Router </a:t>
            </a:r>
            <a:r>
              <a:rPr lang="de-DE" sz="4000" i="1" dirty="0">
                <a:solidFill>
                  <a:srgbClr val="36544F"/>
                </a:solidFill>
                <a:latin typeface="Candara" panose="020E0502030303020204" pitchFamily="34" charset="0"/>
              </a:rPr>
              <a:t>+ </a:t>
            </a:r>
            <a:r>
              <a:rPr lang="de-DE" sz="4000" i="1" dirty="0">
                <a:solidFill>
                  <a:srgbClr val="1778B8"/>
                </a:solidFill>
                <a:latin typeface="Candara" panose="020E0502030303020204" pitchFamily="34" charset="0"/>
              </a:rPr>
              <a:t>SSR</a:t>
            </a:r>
            <a:endParaRPr lang="de-DE" sz="2400" b="0" dirty="0">
              <a:solidFill>
                <a:srgbClr val="1778B8"/>
              </a:solidFill>
              <a:latin typeface="Source Sans Pro" panose="020B0503030403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ACFE390-A7FE-8BD2-4D80-3873CA58B61A}"/>
              </a:ext>
            </a:extLst>
          </p:cNvPr>
          <p:cNvSpPr txBox="1"/>
          <p:nvPr/>
        </p:nvSpPr>
        <p:spPr>
          <a:xfrm rot="21137164">
            <a:off x="5885675" y="763538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341B83D-7C6F-8CEE-5B76-F48FC72A9FA9}"/>
              </a:ext>
            </a:extLst>
          </p:cNvPr>
          <p:cNvSpPr txBox="1"/>
          <p:nvPr/>
        </p:nvSpPr>
        <p:spPr>
          <a:xfrm rot="21137164">
            <a:off x="5885676" y="2291517"/>
            <a:ext cx="1064715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Isolated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AB28043-DC6B-C9F2-D383-1275F8DFC725}"/>
              </a:ext>
            </a:extLst>
          </p:cNvPr>
          <p:cNvSpPr txBox="1"/>
          <p:nvPr/>
        </p:nvSpPr>
        <p:spPr>
          <a:xfrm rot="21137164">
            <a:off x="5346313" y="3772762"/>
            <a:ext cx="1997663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 err="1">
                <a:solidFill>
                  <a:srgbClr val="B04432"/>
                </a:solidFill>
                <a:latin typeface="Candara" panose="020E0502030303020204" pitchFamily="34" charset="0"/>
              </a:rPr>
              <a:t>Based</a:t>
            </a:r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 on Router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272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D861-3B4F-1FDE-E514-AB4C3942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D9B3E6-696D-B29F-3F61-168DB583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4742D2-C6F9-33EA-4E5D-E5337FCD77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947851"/>
            <a:ext cx="8768862" cy="419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Query</a:t>
            </a:r>
          </a:p>
          <a:p>
            <a:pPr marL="0" indent="0" algn="ctr">
              <a:buNone/>
            </a:pP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(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formerly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known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as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React Query)</a:t>
            </a:r>
          </a:p>
          <a:p>
            <a:pPr marL="0" indent="0" algn="ctr">
              <a:buNone/>
            </a:pPr>
            <a:endParaRPr lang="de-DE" sz="2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https://tanstack.com/query/latest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142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0A4BF-2B1A-7621-2D20-2F37EDE1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7D1B5-336D-8F7B-1435-15ECA559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6B8EAD-AB8A-D014-FEAF-513DE5702F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947851"/>
            <a:ext cx="8768862" cy="41956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Query</a:t>
            </a:r>
          </a:p>
          <a:p>
            <a:pPr marL="0" indent="0" algn="ctr">
              <a:buNone/>
            </a:pP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(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formerly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known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as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React Query)</a:t>
            </a:r>
          </a:p>
          <a:p>
            <a:pPr marL="0" indent="0" algn="ctr">
              <a:buNone/>
            </a:pPr>
            <a:endParaRPr lang="de-DE" sz="2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https://tanstack.com/query/latest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All-inclusive Data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solution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for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React (and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others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  <a:b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</a:b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54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5DF21-0406-5020-3553-A1126D38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D36BB-AB5B-442C-60A8-E2566E0C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A1510E-0A2A-9E47-DA23-4878D8ED71B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947851"/>
            <a:ext cx="8768862" cy="41956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Query</a:t>
            </a:r>
          </a:p>
          <a:p>
            <a:pPr marL="0" indent="0" algn="ctr">
              <a:buNone/>
            </a:pP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(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formerly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known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as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React Query)</a:t>
            </a:r>
          </a:p>
          <a:p>
            <a:pPr marL="0" indent="0" algn="ctr">
              <a:buNone/>
            </a:pPr>
            <a:endParaRPr lang="de-DE" sz="2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https://tanstack.com/query/latest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All-inclusive Data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solution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for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React (and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others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  <a:b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</a:b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Suspense, Caching,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TypeSafety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, Error Handling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40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BDB59-FB07-9C98-F8E9-4B5037BC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8996FF-A02C-0992-AAD8-55A97B0E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5F198D-B633-5F1E-7C92-BB9CA8C9F6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947851"/>
            <a:ext cx="8768862" cy="41956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Query</a:t>
            </a:r>
          </a:p>
          <a:p>
            <a:pPr marL="0" indent="0" algn="ctr">
              <a:buNone/>
            </a:pP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(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formerly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known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</a:t>
            </a:r>
            <a:r>
              <a:rPr lang="de-DE" sz="2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as</a:t>
            </a:r>
            <a:r>
              <a:rPr lang="de-DE" sz="2000" i="1" dirty="0">
                <a:solidFill>
                  <a:srgbClr val="9E60B8"/>
                </a:solidFill>
                <a:latin typeface="Candara" panose="020E0502030303020204" pitchFamily="34" charset="0"/>
              </a:rPr>
              <a:t> React Query)</a:t>
            </a:r>
          </a:p>
          <a:p>
            <a:pPr marL="0" indent="0" algn="ctr">
              <a:buNone/>
            </a:pPr>
            <a:endParaRPr lang="de-DE" sz="2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https://tanstack.com/query/latest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All-inclusive Data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Fetching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solution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for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React (and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others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)</a:t>
            </a:r>
            <a:b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</a:b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Suspense, Caching,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TypeSafety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, Error Handling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628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FA4190-7FD7-2F70-2CD3-57D01A88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C9C2A0-3CE1-4F40-CFA9-7537E0D2A9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769544"/>
            <a:ext cx="8768862" cy="419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z="2800" dirty="0">
              <a:solidFill>
                <a:srgbClr val="36544F"/>
              </a:solidFill>
            </a:endParaRPr>
          </a:p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Router</a:t>
            </a:r>
          </a:p>
          <a:p>
            <a:pPr marL="0" indent="0" algn="ctr">
              <a:buNone/>
            </a:pPr>
            <a:endParaRPr lang="de-DE" sz="4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https://tanstack.com/router/latest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415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9F56-B2AD-78A2-73E3-CAB5319A0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1C4720-8F86-93FE-6BFD-CDE047B2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4ACE92-DED6-A676-014C-35C7360F42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769544"/>
            <a:ext cx="8768862" cy="419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z="2800" dirty="0">
              <a:solidFill>
                <a:srgbClr val="36544F"/>
              </a:solidFill>
            </a:endParaRPr>
          </a:p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Router</a:t>
            </a:r>
          </a:p>
          <a:p>
            <a:pPr marL="0" indent="0" algn="ctr">
              <a:buNone/>
            </a:pPr>
            <a:endParaRPr lang="de-DE" sz="4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https://tanstack.com/router/latest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Filebased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,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typesafe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Routing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904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F471-EA73-801E-367C-462C866D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DDA9D-125F-061B-EDB4-DC90FBD0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and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C0182D-7E12-241B-AA5D-C4095CE640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7570" y="769544"/>
            <a:ext cx="8768862" cy="419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z="2800" dirty="0">
              <a:solidFill>
                <a:srgbClr val="36544F"/>
              </a:solidFill>
            </a:endParaRPr>
          </a:p>
          <a:p>
            <a:pPr marL="0" indent="0" algn="ctr">
              <a:buNone/>
            </a:pPr>
            <a:r>
              <a:rPr lang="de-DE" sz="4000" i="1" dirty="0" err="1">
                <a:solidFill>
                  <a:srgbClr val="9E60B8"/>
                </a:solidFill>
                <a:latin typeface="Candara" panose="020E0502030303020204" pitchFamily="34" charset="0"/>
              </a:rPr>
              <a:t>TanStack</a:t>
            </a:r>
            <a:r>
              <a:rPr lang="de-DE" sz="4000" i="1" dirty="0">
                <a:solidFill>
                  <a:srgbClr val="9E60B8"/>
                </a:solidFill>
                <a:latin typeface="Candara" panose="020E0502030303020204" pitchFamily="34" charset="0"/>
              </a:rPr>
              <a:t> Router</a:t>
            </a:r>
          </a:p>
          <a:p>
            <a:pPr marL="0" indent="0" algn="ctr">
              <a:buNone/>
            </a:pPr>
            <a:endParaRPr lang="de-DE" sz="4000" i="1" dirty="0">
              <a:solidFill>
                <a:srgbClr val="9E60B8"/>
              </a:solidFill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  <a:hlinkClick r:id="rId2"/>
              </a:rPr>
              <a:t>https://tanstack.com/router/latest</a:t>
            </a: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Filebased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,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typesafe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Routing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  <a:p>
            <a:pPr marL="0" indent="0" algn="ctr">
              <a:buNone/>
            </a:pP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Search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Params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</a:t>
            </a:r>
            <a:r>
              <a:rPr lang="de-DE" sz="2400" b="0" dirty="0" err="1">
                <a:solidFill>
                  <a:srgbClr val="36544F"/>
                </a:solidFill>
                <a:latin typeface="Source Sans Pro" panose="020B0503030403020204" pitchFamily="34" charset="0"/>
              </a:rPr>
              <a:t>as</a:t>
            </a:r>
            <a:r>
              <a:rPr lang="de-DE" sz="2400" b="0" dirty="0">
                <a:solidFill>
                  <a:srgbClr val="36544F"/>
                </a:solidFill>
                <a:latin typeface="Source Sans Pro" panose="020B0503030403020204" pitchFamily="34" charset="0"/>
              </a:rPr>
              <a:t> global State</a:t>
            </a:r>
          </a:p>
          <a:p>
            <a:pPr marL="0" indent="0" algn="ctr">
              <a:buNone/>
            </a:pPr>
            <a:endParaRPr lang="de-DE" sz="2400" b="0" dirty="0">
              <a:solidFill>
                <a:srgbClr val="36544F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454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AEDB9-6050-1ADD-EEBF-79B0ECFC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Toolstack</a:t>
            </a:r>
            <a:r>
              <a:rPr lang="de-DE" dirty="0"/>
              <a:t> Routing und Data </a:t>
            </a:r>
            <a:r>
              <a:rPr lang="de-DE" dirty="0" err="1"/>
              <a:t>Fetching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2483CF-7BD3-5FAB-8E3D-4EA77E0AC4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err="1"/>
              <a:t>TanStack</a:t>
            </a:r>
            <a:r>
              <a:rPr lang="de-DE" dirty="0"/>
              <a:t> Query: Vollständige Data-</a:t>
            </a:r>
            <a:r>
              <a:rPr lang="de-DE" dirty="0" err="1"/>
              <a:t>Fetching</a:t>
            </a:r>
            <a:r>
              <a:rPr lang="de-DE" dirty="0"/>
              <a:t>-Lösung</a:t>
            </a:r>
          </a:p>
          <a:p>
            <a:pPr lvl="1">
              <a:lnSpc>
                <a:spcPct val="120000"/>
              </a:lnSpc>
            </a:pPr>
            <a:r>
              <a:rPr lang="de-DE" dirty="0">
                <a:hlinkClick r:id="rId2"/>
              </a:rPr>
              <a:t>https://</a:t>
            </a:r>
            <a:r>
              <a:rPr lang="de-DE" dirty="0" err="1">
                <a:hlinkClick r:id="rId2"/>
              </a:rPr>
              <a:t>tanstack.com</a:t>
            </a:r>
            <a:r>
              <a:rPr lang="de-DE" dirty="0">
                <a:hlinkClick r:id="rId2"/>
              </a:rPr>
              <a:t>/</a:t>
            </a:r>
            <a:r>
              <a:rPr lang="de-DE" dirty="0" err="1">
                <a:hlinkClick r:id="rId2"/>
              </a:rPr>
              <a:t>query</a:t>
            </a:r>
            <a:r>
              <a:rPr lang="de-DE" dirty="0">
                <a:hlinkClick r:id="rId2"/>
              </a:rPr>
              <a:t>/</a:t>
            </a:r>
            <a:r>
              <a:rPr lang="de-DE" dirty="0" err="1">
                <a:hlinkClick r:id="rId2"/>
              </a:rPr>
              <a:t>latest</a:t>
            </a:r>
            <a:endParaRPr lang="de-DE" dirty="0"/>
          </a:p>
          <a:p>
            <a:pPr lvl="1">
              <a:lnSpc>
                <a:spcPct val="120000"/>
              </a:lnSpc>
            </a:pPr>
            <a:r>
              <a:rPr lang="de-DE" dirty="0"/>
              <a:t>ehemals bekannt als "React Query"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Flexibler Cache für serverseitige Daten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Hohe Typsicherheit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Keine Notwendigkeit für </a:t>
            </a:r>
            <a:r>
              <a:rPr lang="de-DE" dirty="0" err="1"/>
              <a:t>useEffect</a:t>
            </a:r>
            <a:r>
              <a:rPr lang="de-DE" dirty="0"/>
              <a:t> mehr (für Data-</a:t>
            </a:r>
            <a:r>
              <a:rPr lang="de-DE" dirty="0" err="1"/>
              <a:t>Fetching</a:t>
            </a:r>
            <a:r>
              <a:rPr lang="de-DE" dirty="0"/>
              <a:t>)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71228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B62FC-6A8D-D023-0128-3FD730A73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C5ACE-E049-90F0-137F-A65E81C0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Fullstack</a:t>
            </a:r>
            <a:r>
              <a:rPr lang="de-DE" dirty="0"/>
              <a:t> React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8434F6-0E0A-CF59-2131-2C00AB7559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err="1"/>
              <a:t>TanStack</a:t>
            </a:r>
            <a:r>
              <a:rPr lang="de-DE" dirty="0"/>
              <a:t> Start: </a:t>
            </a:r>
            <a:r>
              <a:rPr lang="de-DE" dirty="0" err="1"/>
              <a:t>Fullstack</a:t>
            </a:r>
            <a:r>
              <a:rPr lang="de-DE" dirty="0"/>
              <a:t>-Framework für React</a:t>
            </a:r>
          </a:p>
          <a:p>
            <a:pPr lvl="1">
              <a:lnSpc>
                <a:spcPct val="120000"/>
              </a:lnSpc>
            </a:pPr>
            <a:r>
              <a:rPr lang="de-DE" dirty="0">
                <a:hlinkClick r:id="rId2"/>
              </a:rPr>
              <a:t>https://tanstack.com/start/latest</a:t>
            </a:r>
            <a:endParaRPr lang="de-DE" dirty="0"/>
          </a:p>
          <a:p>
            <a:pPr lvl="1">
              <a:lnSpc>
                <a:spcPct val="120000"/>
              </a:lnSpc>
            </a:pPr>
            <a:r>
              <a:rPr lang="de-DE" dirty="0"/>
              <a:t>Bietet SSR und Server </a:t>
            </a:r>
            <a:r>
              <a:rPr lang="de-DE" dirty="0" err="1"/>
              <a:t>Functions</a:t>
            </a:r>
            <a:endParaRPr lang="de-DE" dirty="0"/>
          </a:p>
          <a:p>
            <a:pPr lvl="1">
              <a:lnSpc>
                <a:spcPct val="120000"/>
              </a:lnSpc>
            </a:pPr>
            <a:r>
              <a:rPr lang="de-DE" dirty="0"/>
              <a:t>(Noch) kein Support für React Server Components (RSC)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Basiert auf dem </a:t>
            </a:r>
            <a:r>
              <a:rPr lang="de-DE" dirty="0" err="1"/>
              <a:t>TanStack</a:t>
            </a:r>
            <a:r>
              <a:rPr lang="de-DE" dirty="0"/>
              <a:t> Router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Gute Integration von </a:t>
            </a:r>
            <a:r>
              <a:rPr lang="de-DE" dirty="0" err="1"/>
              <a:t>TanStack</a:t>
            </a:r>
            <a:r>
              <a:rPr lang="de-DE" dirty="0"/>
              <a:t> Query (optional)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Alternativen:</a:t>
            </a:r>
          </a:p>
          <a:p>
            <a:pPr lvl="2">
              <a:lnSpc>
                <a:spcPct val="120000"/>
              </a:lnSpc>
            </a:pPr>
            <a:r>
              <a:rPr lang="de-DE" sz="1800" dirty="0"/>
              <a:t>React Router (vergleichbarer Ansatz)</a:t>
            </a:r>
          </a:p>
          <a:p>
            <a:pPr lvl="2">
              <a:lnSpc>
                <a:spcPct val="120000"/>
              </a:lnSpc>
            </a:pPr>
            <a:r>
              <a:rPr lang="de-DE" sz="1800" dirty="0" err="1"/>
              <a:t>Next.js</a:t>
            </a:r>
            <a:r>
              <a:rPr lang="de-DE" sz="1800" dirty="0"/>
              <a:t> (eher Server-first Ansatz)</a:t>
            </a:r>
          </a:p>
          <a:p>
            <a:pPr lvl="1"/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32C9F7F-2413-0D47-C23C-01E700FE8DAB}"/>
              </a:ext>
            </a:extLst>
          </p:cNvPr>
          <p:cNvSpPr txBox="1"/>
          <p:nvPr/>
        </p:nvSpPr>
        <p:spPr>
          <a:xfrm rot="21137164">
            <a:off x="6275978" y="1064843"/>
            <a:ext cx="1725152" cy="400110"/>
          </a:xfrm>
          <a:prstGeom prst="rect">
            <a:avLst/>
          </a:prstGeom>
          <a:solidFill>
            <a:srgbClr val="FFFD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sz="2000" b="1" dirty="0">
                <a:solidFill>
                  <a:srgbClr val="B04432"/>
                </a:solidFill>
                <a:latin typeface="Candara" panose="020E0502030303020204" pitchFamily="34" charset="0"/>
              </a:rPr>
              <a:t>Experimental!</a:t>
            </a:r>
            <a:endParaRPr lang="de-DE" sz="2000" b="1" dirty="0">
              <a:solidFill>
                <a:srgbClr val="3654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30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924</Words>
  <Application>Microsoft Macintosh PowerPoint</Application>
  <PresentationFormat>Bildschirmpräsentation (16:9)</PresentationFormat>
  <Paragraphs>296</Paragraphs>
  <Slides>39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Candara</vt:lpstr>
      <vt:lpstr>Montserrat</vt:lpstr>
      <vt:lpstr>Source Sans Pro</vt:lpstr>
      <vt:lpstr>Source Sans Pro SemiBold</vt:lpstr>
      <vt:lpstr>Office-Design</vt:lpstr>
      <vt:lpstr>Ein Beispiel...</vt:lpstr>
      <vt:lpstr>Ein Beispiel...</vt:lpstr>
      <vt:lpstr>PowerPoint-Präsentation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Webanwendungen</vt:lpstr>
      <vt:lpstr>PowerPoint-Präsentation</vt:lpstr>
      <vt:lpstr>Hintergrund: TanStack</vt:lpstr>
      <vt:lpstr>Technology Stack</vt:lpstr>
      <vt:lpstr>Technology Stack</vt:lpstr>
      <vt:lpstr>Technology Stack</vt:lpstr>
      <vt:lpstr>Technology Stack</vt:lpstr>
      <vt:lpstr>Technology Stack</vt:lpstr>
      <vt:lpstr>Technology Stack</vt:lpstr>
      <vt:lpstr>Technology Stack</vt:lpstr>
      <vt:lpstr>Technology Stack</vt:lpstr>
      <vt:lpstr>Routing and Data Fetching</vt:lpstr>
      <vt:lpstr>Routing and Data Fetching</vt:lpstr>
      <vt:lpstr>Routing and Data Fetching</vt:lpstr>
      <vt:lpstr>Routing and Data Fetching</vt:lpstr>
      <vt:lpstr>Routing and Data Fetching</vt:lpstr>
      <vt:lpstr>Routing and Data Fetching</vt:lpstr>
      <vt:lpstr>Routing and Data Fetching</vt:lpstr>
      <vt:lpstr>Toolstack Routing und Data Fetching</vt:lpstr>
      <vt:lpstr>Fullstack React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Nils Hartmann</dc:creator>
  <cp:lastModifiedBy>Nils Hartmann</cp:lastModifiedBy>
  <cp:revision>1266</cp:revision>
  <cp:lastPrinted>2019-09-04T14:49:47Z</cp:lastPrinted>
  <dcterms:created xsi:type="dcterms:W3CDTF">2016-03-28T15:59:53Z</dcterms:created>
  <dcterms:modified xsi:type="dcterms:W3CDTF">2026-05-31T07:31:19Z</dcterms:modified>
</cp:coreProperties>
</file>